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ookerstudio.google.com/reporting/c2ac4a0b-60ae-4241-af43-5bfa3fcd6cdc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-1371600"/>
            <a:ext cx="6035040" cy="6035040"/>
          </a:xfrm>
          <a:prstGeom prst="ellipse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9052560" y="2834640"/>
            <a:ext cx="3108960" cy="3108960"/>
          </a:xfrm>
          <a:prstGeom prst="donut">
            <a:avLst>
              <a:gd name="adj" fmla="val 6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102E"/>
                </a:solidFill>
                <a:latin typeface="Calibri"/>
              </a:rPr>
              <a:t>PRIMERA ENTREGA  ·  PROYECTO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82296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Dashboard en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5200" b="1">
                <a:solidFill>
                  <a:srgbClr val="C8102E"/>
                </a:solidFill>
                <a:latin typeface="Calibri"/>
              </a:rPr>
              <a:t>Google Looker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6616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B9BFC7"/>
                </a:solidFill>
                <a:latin typeface="Calibri"/>
              </a:rPr>
              <a:t>La Feria del Automóvil  ·  Performance Comercial Digital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224528"/>
            <a:ext cx="1371600" cy="3200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5720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Massironi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8A9099"/>
                </a:solidFill>
                <a:latin typeface="Calibri"/>
              </a:rPr>
              <a:t>Analítica de Negocios y Ecosistema Digital  ·  Agosto 2026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8A9099"/>
                </a:solidFill>
                <a:latin typeface="Calibri"/>
              </a:rPr>
              <a:t>Fuente: Google Analytics 4 – feriadelautomovil.com.ar  ·  Período 1 sep – 31 dic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85216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1,8 mil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272784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A9099"/>
                </a:solidFill>
                <a:latin typeface="Calibri"/>
              </a:rPr>
              <a:t>usuarios activos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1" y="585216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72 %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1" y="6272784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A9099"/>
                </a:solidFill>
                <a:latin typeface="Calibri"/>
              </a:rPr>
              <a:t>engaged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38344" y="585216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69,4 %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8344" y="6272784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A9099"/>
                </a:solidFill>
                <a:latin typeface="Calibri"/>
              </a:rPr>
              <a:t>mobile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23176" y="585216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3176" y="6272784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A9099"/>
                </a:solidFill>
                <a:latin typeface="Calibri"/>
              </a:rPr>
              <a:t>páginas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102E"/>
                </a:solidFill>
                <a:latin typeface="Calibri"/>
              </a:rPr>
              <a:t>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Qué problema resuelve este tablero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3310128" cy="3977639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4712" y="2267712"/>
            <a:ext cx="329184" cy="3291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281635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3310128"/>
            <a:ext cx="26517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La Feria del Automóvil miraba GA4, Google Ads y el sitio por separado y de forma manual. Sin una lectura unificada, las decisiones de inversión y de contenido se tomaban por intuición, frente a un competidor (AutoHaus Adrogué) con más inversión online y CRM integrado.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74519"/>
            <a:ext cx="3310128" cy="3977639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36592" y="2267712"/>
            <a:ext cx="329184" cy="3291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281635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El propósito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3310128"/>
            <a:ext cx="26517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Centralizar GA4 en un cuadro de mando táctico organizado según el embudo TOFU → MOFU → BOFU, que muestre en una sola vista de dónde viene el tráfico, cómo se comporta y en qué punto se pierde la conversión.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874519"/>
            <a:ext cx="3310128" cy="3977639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48472" y="2267712"/>
            <a:ext cx="329184" cy="3291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281635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Los usuarios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3310128"/>
            <a:ext cx="26517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Dirección: KPIs generales, revisión mensual para decidir presupuesto.
Marketing Digital: uso semanal, canales, campañas y contenidos.
Equipo comercial: qué modelos y secciones despiertan más interés antes de contactar al lead.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7255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A9099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069"/>
                </a:solidFill>
                <a:latin typeface="Calibri"/>
              </a:rPr>
              <a:t>1era Entrega  ·  Looker Studio  ·  La Feria del Automóvil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102E"/>
                </a:solidFill>
                <a:latin typeface="Calibri"/>
              </a:rPr>
              <a:t>FUENTES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De dónde salen los datos del reporte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3310128" cy="278892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219456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Google Analytics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256032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C8102E"/>
                </a:solidFill>
                <a:latin typeface="Calibri"/>
              </a:rPr>
              <a:t>feriadelautomovil.com.ar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2971800"/>
            <a:ext cx="2651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B9BFC7"/>
                </a:solidFill>
                <a:latin typeface="Calibri"/>
              </a:rPr>
              <a:t>Conector nativo de Looker Studio. Implementada vía Google Tag Manager, con eventos personalizados y variables UTM (source / medium / campaign).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24712" y="4133087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E242D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418795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3DC37B"/>
                </a:solidFill>
                <a:latin typeface="Calibri"/>
              </a:rPr>
              <a:t>ACTIVA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74519"/>
            <a:ext cx="3310128" cy="278892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219456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Google 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56032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C8102E"/>
                </a:solidFill>
                <a:latin typeface="Calibri"/>
              </a:rPr>
              <a:t>cuenta de la concesionaria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2971800"/>
            <a:ext cx="2651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B9BFC7"/>
                </a:solidFill>
                <a:latin typeface="Calibri"/>
              </a:rPr>
              <a:t>Ya vinculada al informe. Se activará en la próxima etapa para medir costo, CTR, CPL y ROAS por campaña.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36592" y="4133087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E242D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6592" y="418795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2E8FE0"/>
                </a:solidFill>
                <a:latin typeface="Calibri"/>
              </a:rPr>
              <a:t>VINCULADA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874519"/>
            <a:ext cx="3310128" cy="278892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2" y="219456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Google Sheets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256032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C8102E"/>
                </a:solidFill>
                <a:latin typeface="Calibri"/>
              </a:rPr>
              <a:t>leads y ventas del CRM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971800"/>
            <a:ext cx="2651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B9BFC7"/>
                </a:solidFill>
                <a:latin typeface="Calibri"/>
              </a:rPr>
              <a:t>Prevista. Cerrará el embudo hasta la venta concretada en el showroom y permitirá calcular la tasa de conversión real lead → venta.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48472" y="4133087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E242D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8472" y="418795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8A9099"/>
                </a:solidFill>
                <a:latin typeface="Calibri"/>
              </a:rPr>
              <a:t>PREVISTA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956048"/>
            <a:ext cx="10634472" cy="960120"/>
          </a:xfrm>
          <a:prstGeom prst="roundRect">
            <a:avLst>
              <a:gd name="adj" fmla="val 3500"/>
            </a:avLst>
          </a:prstGeom>
          <a:solidFill>
            <a:srgbClr val="1E242D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5193792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B9BFC7"/>
                </a:solidFill>
                <a:latin typeface="Calibri"/>
              </a:rPr>
              <a:t>Período por defecto del reporte: 1 de septiembre – 31 de diciembre de 2025. Es el rango con datos consolidados de la propiedad GA4; el filtro de período permite al lector acotarlo o compararlo.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57255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A9099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069"/>
                </a:solidFill>
                <a:latin typeface="Calibri"/>
              </a:rPr>
              <a:t>1era Entrega  ·  Looker Studio  ·  La Feria del Automóvil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102E"/>
                </a:solidFill>
                <a:latin typeface="Calibri"/>
              </a:rPr>
              <a:t>BRIEF · PESTAÑA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Las preguntas que el tablero responde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5230368" cy="758952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1" y="2089403"/>
            <a:ext cx="329184" cy="3291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020824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¿Cuántos usuarios activos y nuevos llegaron y cómo evolucionaron frente al período anterior?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61487"/>
            <a:ext cx="5230368" cy="758952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1" y="2976371"/>
            <a:ext cx="329184" cy="3291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07791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¿Qué nivel de compromiso tiene la audiencia y cuánto contenido consume por visita?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648456"/>
            <a:ext cx="5230368" cy="758952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1" y="3863339"/>
            <a:ext cx="329184" cy="3291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794759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¿Desde qué dispositivo nos visitan? ¿El sitio es realmente mobile-first?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535424"/>
            <a:ext cx="5230368" cy="758952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1" y="4750308"/>
            <a:ext cx="329184" cy="3291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81728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¿De qué países y regiones proviene el tráfico? ¿El alcance sigue siendo local?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422392"/>
            <a:ext cx="5230368" cy="758952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1" y="5637276"/>
            <a:ext cx="329184" cy="3291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568696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¿Cómo se distribuye el tráfico día a día? ¿Hay picos asociados a acciones comerciales?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1874519"/>
            <a:ext cx="5230368" cy="758952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65392" y="2089403"/>
            <a:ext cx="329184" cy="3291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79" y="2020824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¿Qué fuente y medio aportan más sesiones? ¿Cuánto pesa el orgánico frente al resto?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2761487"/>
            <a:ext cx="5230368" cy="758952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65392" y="2976371"/>
            <a:ext cx="329184" cy="3291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79" y="2907791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¿Qué peso real tienen Instagram y Facebook como fuente de tráfico?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3648456"/>
            <a:ext cx="5230368" cy="758952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65392" y="3863339"/>
            <a:ext cx="329184" cy="3291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79" y="3794759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¿Qué proporción de usuarios inicia y efectivamente envía el formulario de contacto?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59" y="4535424"/>
            <a:ext cx="5230368" cy="758952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65392" y="4750308"/>
            <a:ext cx="329184" cy="3291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79" y="4681728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¿Qué páginas y qué modelos concentran el interés comercial?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59" y="5422392"/>
            <a:ext cx="5230368" cy="758952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65392" y="5637276"/>
            <a:ext cx="329184" cy="3291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79" y="5568696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¿Qué acciones priorizar el próximo trimestre para diversificar canales y convertir mejor?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57255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A9099"/>
                </a:solidFill>
                <a:latin typeface="Calibri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069"/>
                </a:solidFill>
                <a:latin typeface="Calibri"/>
              </a:rPr>
              <a:t>1era Entrega  ·  Looker Studio  ·  La Feria del Automóvil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102E"/>
                </a:solidFill>
                <a:latin typeface="Calibri"/>
              </a:rPr>
              <a:t>EL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Cuatro páginas que cuentan una historia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2487168" cy="370332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14884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C8102E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78892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Calibri"/>
              </a:rPr>
              <a:t>Resumen ejecutivo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3566160"/>
            <a:ext cx="1920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B9BFC7"/>
                </a:solidFill>
                <a:latin typeface="Calibri"/>
              </a:rPr>
              <a:t>Los 6 KPIs del período, el reparto por dispositivo, el ranking de países y la evolución diaria del tráfico.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5138928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E8FE0"/>
                </a:solidFill>
                <a:latin typeface="Calibri"/>
              </a:rPr>
              <a:t>TOFU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1874519"/>
            <a:ext cx="2487168" cy="370332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214884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C8102E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78892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Calibri"/>
              </a:rPr>
              <a:t>Tráfico y adquisición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566160"/>
            <a:ext cx="1920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B9BFC7"/>
                </a:solidFill>
                <a:latin typeface="Calibri"/>
              </a:rPr>
              <a:t>De dónde llegan las sesiones (fuente / medio) y qué eventos dispara el usuario dentro del sitio.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5138928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E8FE0"/>
                </a:solidFill>
                <a:latin typeface="Calibri"/>
              </a:rPr>
              <a:t>TOFU · MOFU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4" y="1874519"/>
            <a:ext cx="2487168" cy="370332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214884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C8102E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78892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Calibri"/>
              </a:rPr>
              <a:t>Contenido y búsquedas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3566160"/>
            <a:ext cx="1920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B9BFC7"/>
                </a:solidFill>
                <a:latin typeface="Calibri"/>
              </a:rPr>
              <a:t>Qué páginas y qué modelos concentran las vistas, y qué busca la gente dentro del sitio.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5138928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E8FE0"/>
                </a:solidFill>
                <a:latin typeface="Calibri"/>
              </a:rPr>
              <a:t>MOFU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874519"/>
            <a:ext cx="2487168" cy="370332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4584" y="214884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C8102E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4584" y="278892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Calibri"/>
              </a:rPr>
              <a:t>Conclusiones y próximos pasos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4584" y="3566160"/>
            <a:ext cx="1920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B9BFC7"/>
                </a:solidFill>
                <a:latin typeface="Calibri"/>
              </a:rPr>
              <a:t>Cinco hallazgos y cinco acciones concretas derivadas de los datos del período.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4584" y="5138928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E8FE0"/>
                </a:solidFill>
                <a:latin typeface="Calibri"/>
              </a:rPr>
              <a:t>BOFU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760720"/>
            <a:ext cx="10634472" cy="502920"/>
          </a:xfrm>
          <a:prstGeom prst="roundRect">
            <a:avLst>
              <a:gd name="adj" fmla="val 3500"/>
            </a:avLst>
          </a:prstGeom>
          <a:solidFill>
            <a:srgbClr val="1E242D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5907024"/>
            <a:ext cx="9966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9BFC7"/>
                </a:solidFill>
                <a:latin typeface="Calibri"/>
              </a:rPr>
              <a:t>Menú de navegación lateral en el visor · encabezado, paleta y tipografía idénticos en las 4 páginas: se leen como una sola unidad visual.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57255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A9099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069"/>
                </a:solidFill>
                <a:latin typeface="Calibri"/>
              </a:rPr>
              <a:t>1era Entrega  ·  Looker Studio  ·  La Feria del Automóvil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102E"/>
                </a:solidFill>
                <a:latin typeface="Calibri"/>
              </a:rPr>
              <a:t>BRIEF · PESTAÑA GRÁFICOS APLICADOS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Seis tipos de visualización, una por intención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3310128" cy="1874519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112263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Tarjetas de resultados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47802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C8102E"/>
                </a:solidFill>
                <a:latin typeface="Calibri"/>
              </a:rPr>
              <a:t>Usuarios, % nuevos, engagement, páginas/usuario, tiempo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97180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8A9099"/>
                </a:solidFill>
                <a:latin typeface="Calibri"/>
              </a:rPr>
              <a:t>Seis KPIs en una fila con comparación vs. período anterior: la primera lectura del tablero.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74519"/>
            <a:ext cx="3310128" cy="1874519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2112263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Gráfico circular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47802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C8102E"/>
                </a:solidFill>
                <a:latin typeface="Calibri"/>
              </a:rPr>
              <a:t>Usuarios por categoría de dispositivo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97180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8A9099"/>
                </a:solidFill>
                <a:latin typeface="Calibri"/>
              </a:rPr>
              <a:t>Sólo tres categorías y lo que importa es la proporción: 69,4 % mobile vs 30,2 % desktop.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874519"/>
            <a:ext cx="3310128" cy="1874519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2112263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Barras horizontales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47802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C8102E"/>
                </a:solidFill>
                <a:latin typeface="Calibri"/>
              </a:rPr>
              <a:t>Usuarios activos por país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97180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8A9099"/>
                </a:solidFill>
                <a:latin typeface="Calibri"/>
              </a:rPr>
              <a:t>Ordenadas de mayor a menor: dejan clarísimo el dominio de Argentina sobre el resto.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59352"/>
            <a:ext cx="3310128" cy="1874519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4197096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Serie temporal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4562856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C8102E"/>
                </a:solidFill>
                <a:latin typeface="Calibri"/>
              </a:rPr>
              <a:t>Usuarios activos por fecha y por país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5056632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8A9099"/>
                </a:solidFill>
                <a:latin typeface="Calibri"/>
              </a:rPr>
              <a:t>Muestra estacionalidad y picos, y permite cruzar caídas con acciones comerciales.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959352"/>
            <a:ext cx="3310128" cy="1874519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8" y="4197096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Tabla con barras y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4562856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C8102E"/>
                </a:solidFill>
                <a:latin typeface="Calibri"/>
              </a:rPr>
              <a:t>Fuentes / medios, eventos y rutas de página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5056632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8A9099"/>
                </a:solidFill>
                <a:latin typeface="Calibri"/>
              </a:rPr>
              <a:t>Ubica cada fila en términos relativos sin necesidad de un segundo gráfico.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3959352"/>
            <a:ext cx="3310128" cy="1874519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93608" y="4197096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Líneas múltiples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4562856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C8102E"/>
                </a:solidFill>
                <a:latin typeface="Calibri"/>
              </a:rPr>
              <a:t>Comparación de series de canales y eventos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5056632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8A9099"/>
                </a:solidFill>
                <a:latin typeface="Calibri"/>
              </a:rPr>
              <a:t>Compara la evolución de varias series sin multiplicar los paneles.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57255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A9099"/>
                </a:solidFill>
                <a:latin typeface="Calibr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069"/>
                </a:solidFill>
                <a:latin typeface="Calibri"/>
              </a:rPr>
              <a:t>1era Entrega  ·  Looker Studio  ·  La Feria del Automóvil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102E"/>
                </a:solidFill>
                <a:latin typeface="Calibri"/>
              </a:rPr>
              <a:t>BRIEF · PESTAÑA FILTROS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Cómo se segmenta la información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5230368" cy="425196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4884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102E"/>
                </a:solidFill>
                <a:latin typeface="Calibri"/>
              </a:rPr>
              <a:t>FILTROS EXTERNOS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48716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A9099"/>
                </a:solidFill>
                <a:latin typeface="Calibri"/>
              </a:rPr>
              <a:t>Controles visibles para quien lee el reporte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926080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Filtro por período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00400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E8FE0"/>
                </a:solidFill>
                <a:latin typeface="Calibri"/>
              </a:rPr>
              <a:t>Nivel de informe · las 4 páginas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456432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B9BFC7"/>
                </a:solidFill>
                <a:latin typeface="Calibri"/>
              </a:rPr>
              <a:t>Rango fijo 1 sep – 31 dic 2025 por defecto, modificable por el lector.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959352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Lista desplegable · Dispositivo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233672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E8FE0"/>
                </a:solidFill>
                <a:latin typeface="Calibri"/>
              </a:rPr>
              <a:t>Nivel de informe · las 4 páginas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489704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B9BFC7"/>
                </a:solidFill>
                <a:latin typeface="Calibri"/>
              </a:rPr>
              <a:t>Aislar mobile vs desktop es lo que permite demostrar la fricción del formulario móvil.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992624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Interacción entre gráficos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266944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E8FE0"/>
                </a:solidFill>
                <a:latin typeface="Calibri"/>
              </a:rPr>
              <a:t>Páginas 2 y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522976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B9BFC7"/>
                </a:solidFill>
                <a:latin typeface="Calibri"/>
              </a:rPr>
              <a:t>Al hacer clic en una fila de la tabla se filtra el resto de la página: el tablero se explora solo.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874519"/>
            <a:ext cx="5230368" cy="425196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214884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102E"/>
                </a:solidFill>
                <a:latin typeface="Calibri"/>
              </a:rPr>
              <a:t>FILTROS INTERNOS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248716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A9099"/>
                </a:solidFill>
                <a:latin typeface="Calibri"/>
              </a:rPr>
              <a:t>Condicionales aplicados a un gráfico concreto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2880360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Top 10 por sesiones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154679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E8FE0"/>
                </a:solidFill>
                <a:latin typeface="Calibri"/>
              </a:rPr>
              <a:t>Tabla Top Traffic Sources · pág.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339242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B9BFC7"/>
                </a:solidFill>
                <a:latin typeface="Calibri"/>
              </a:rPr>
              <a:t>La cola larga de referrals con 1-2 sesiones es ruido.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3639312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Top 10 por nº de eventos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3913632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E8FE0"/>
                </a:solidFill>
                <a:latin typeface="Calibri"/>
              </a:rPr>
              <a:t>Tabla Top Events · pág.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4151376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B9BFC7"/>
                </a:solidFill>
                <a:latin typeface="Calibri"/>
              </a:rPr>
              <a:t>Concentra la atención en los eventos que explican el comportamiento real.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4398264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Top 10 por vistas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7104" y="4672583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E8FE0"/>
                </a:solidFill>
                <a:latin typeface="Calibri"/>
              </a:rPr>
              <a:t>Tabla Top Pages · pág.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4910327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B9BFC7"/>
                </a:solidFill>
                <a:latin typeface="Calibri"/>
              </a:rPr>
              <a:t>Deja ver de un vistazo qué secciones y modelos concentran el interés.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157216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Comparación vs. período anterior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431536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E8FE0"/>
                </a:solidFill>
                <a:latin typeface="Calibri"/>
              </a:rPr>
              <a:t>Tarjetas de resultados · pág.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47104" y="5669279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B9BFC7"/>
                </a:solidFill>
                <a:latin typeface="Calibri"/>
              </a:rPr>
              <a:t>Ubica cada cifra en términos relativos (%), no como un absoluto.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57255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A9099"/>
                </a:solidFill>
                <a:latin typeface="Calibr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069"/>
                </a:solidFill>
                <a:latin typeface="Calibri"/>
              </a:rPr>
              <a:t>1era Entrega  ·  Looker Studio  ·  La Feria del Automóvil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102E"/>
                </a:solidFill>
                <a:latin typeface="Calibri"/>
              </a:rPr>
              <a:t>IDENTIDAD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Look &amp; feel: un tablero de auto, no una planilla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1572768" cy="1051560"/>
          </a:xfrm>
          <a:prstGeom prst="roundRect">
            <a:avLst>
              <a:gd name="adj" fmla="val 6000"/>
            </a:avLst>
          </a:prstGeom>
          <a:solidFill>
            <a:srgbClr val="0E1116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035808"/>
            <a:ext cx="1572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#0E1116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10128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8102E"/>
                </a:solidFill>
                <a:latin typeface="Calibri"/>
              </a:rPr>
              <a:t>Negro carbón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47872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A9099"/>
                </a:solidFill>
                <a:latin typeface="Calibri"/>
              </a:rPr>
              <a:t>Fondo de las 4 páginas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87752" y="1874519"/>
            <a:ext cx="1572768" cy="1051560"/>
          </a:xfrm>
          <a:prstGeom prst="roundRect">
            <a:avLst>
              <a:gd name="adj" fmla="val 6000"/>
            </a:avLst>
          </a:prstGeom>
          <a:solidFill>
            <a:srgbClr val="C8102E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87752" y="3035808"/>
            <a:ext cx="1572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#C8102E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7752" y="3310128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8102E"/>
                </a:solidFill>
                <a:latin typeface="Calibri"/>
              </a:rPr>
              <a:t>Rojo marca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7752" y="3547872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A9099"/>
                </a:solidFill>
                <a:latin typeface="Calibri"/>
              </a:rPr>
              <a:t>Acento y variaciones negativas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1874519"/>
            <a:ext cx="157276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8264" y="3035808"/>
            <a:ext cx="1572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#FFFFFF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8264" y="3310128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8102E"/>
                </a:solidFill>
                <a:latin typeface="Calibri"/>
              </a:rPr>
              <a:t>Blanco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8264" y="3547872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A9099"/>
                </a:solidFill>
                <a:latin typeface="Calibri"/>
              </a:rPr>
              <a:t>Títulos y cifras clave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5" y="1874519"/>
            <a:ext cx="1572768" cy="1051560"/>
          </a:xfrm>
          <a:prstGeom prst="roundRect">
            <a:avLst>
              <a:gd name="adj" fmla="val 6000"/>
            </a:avLst>
          </a:prstGeom>
          <a:solidFill>
            <a:srgbClr val="2E8FE0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8775" y="3035808"/>
            <a:ext cx="1572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#2E8FE0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5" y="3310128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8102E"/>
                </a:solidFill>
                <a:latin typeface="Calibri"/>
              </a:rPr>
              <a:t>Azul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775" y="3547872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A9099"/>
                </a:solidFill>
                <a:latin typeface="Calibri"/>
              </a:rPr>
              <a:t>Serie principal de los gráficos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9288" y="1874519"/>
            <a:ext cx="1572768" cy="1051560"/>
          </a:xfrm>
          <a:prstGeom prst="roundRect">
            <a:avLst>
              <a:gd name="adj" fmla="val 6000"/>
            </a:avLst>
          </a:prstGeom>
          <a:solidFill>
            <a:srgbClr val="8A9099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9288" y="3035808"/>
            <a:ext cx="1572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#8A9099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9288" y="3310128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8102E"/>
                </a:solidFill>
                <a:latin typeface="Calibri"/>
              </a:rPr>
              <a:t>Gris medio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9288" y="3547872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A9099"/>
                </a:solidFill>
                <a:latin typeface="Calibri"/>
              </a:rPr>
              <a:t>Ejes, etiquetas y apoyo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9800" y="1874519"/>
            <a:ext cx="1572768" cy="1051560"/>
          </a:xfrm>
          <a:prstGeom prst="roundRect">
            <a:avLst>
              <a:gd name="adj" fmla="val 6000"/>
            </a:avLst>
          </a:prstGeom>
          <a:solidFill>
            <a:srgbClr val="3DC37B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3035808"/>
            <a:ext cx="1572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#3DC37B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3310128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8102E"/>
                </a:solidFill>
                <a:latin typeface="Calibri"/>
              </a:rPr>
              <a:t>Verde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3547872"/>
            <a:ext cx="1572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A9099"/>
                </a:solidFill>
                <a:latin typeface="Calibri"/>
              </a:rPr>
              <a:t>Variaciones positivas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297680"/>
            <a:ext cx="5230368" cy="178308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455371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8102E"/>
                </a:solidFill>
                <a:latin typeface="Calibri"/>
              </a:rPr>
              <a:t>TIPOGRAFÍA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919472"/>
            <a:ext cx="4480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Roboto, la fuente nativa de Looker Studio. Bold para títulos y cifras, Regular para el cuerpo. Coherente con el Segoe UI Bold del tablero de Power BI del mismo proyecto.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1344" y="4297680"/>
            <a:ext cx="5230368" cy="178308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47104" y="455371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8102E"/>
                </a:solidFill>
                <a:latin typeface="Calibri"/>
              </a:rPr>
              <a:t>CRITERIO DE DISEÑO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4" y="4919472"/>
            <a:ext cx="4480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Data storytelling (Knaflic, 2017): un título por bloque, ruido visual al mínimo, contraste alto entre fondo y dato, y recorrido de lectura de arriba hacia abajo siguiendo el embudo.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57255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A9099"/>
                </a:solidFill>
                <a:latin typeface="Calibri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069"/>
                </a:solidFill>
                <a:latin typeface="Calibri"/>
              </a:rPr>
              <a:t>1era Entrega  ·  Looker Studio  ·  La Feria del Automóvil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102E"/>
                </a:solidFill>
                <a:latin typeface="Calibri"/>
              </a:rPr>
              <a:t>QUÉ MUESTRAN LOS DATOS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Una marca fuerte, un solo canal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3977639" cy="1133856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79,0 %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2112263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8A9099"/>
                </a:solidFill>
                <a:latin typeface="Calibri"/>
              </a:rPr>
              <a:t>del tráfico llega por
búsqueda orgánica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154679"/>
            <a:ext cx="3977639" cy="1133856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3375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17,9 %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3392424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8A9099"/>
                </a:solidFill>
                <a:latin typeface="Calibri"/>
              </a:rPr>
              <a:t>entra de forma
directa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434840"/>
            <a:ext cx="3977639" cy="1133856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61772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Calibri"/>
              </a:rPr>
              <a:t>&lt; 3 %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4672583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8A9099"/>
                </a:solidFill>
                <a:latin typeface="Calibri"/>
              </a:rPr>
              <a:t>aportan redes
sociales y referidos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7488" y="1874519"/>
            <a:ext cx="6364224" cy="3694176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13248" y="210312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9099"/>
                </a:solidFill>
                <a:latin typeface="Calibri"/>
              </a:rPr>
              <a:t>SESIONES POR FUENTE / MEDIO  ·  1 sep – 31 dic 2025</a:t>
            </a:r>
          </a:p>
        </p:txBody>
      </p:sp>
      <p:pic>
        <p:nvPicPr>
          <p:cNvPr id="16" name="Picture 15" descr="c_can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487168"/>
            <a:ext cx="5760720" cy="296265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77240" y="5715000"/>
            <a:ext cx="10634472" cy="530352"/>
          </a:xfrm>
          <a:prstGeom prst="roundRect">
            <a:avLst>
              <a:gd name="adj" fmla="val 3500"/>
            </a:avLst>
          </a:prstGeom>
          <a:solidFill>
            <a:srgbClr val="1E242D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870448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Lectura: el SEO local funciona, pero la adquisición depende casi por completo de un único canal. Diversificar es la prioridad del próximo trimestre.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7255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A9099"/>
                </a:solidFill>
                <a:latin typeface="Calibri"/>
              </a:rPr>
              <a:t>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069"/>
                </a:solidFill>
                <a:latin typeface="Calibri"/>
              </a:rPr>
              <a:t>1era Entrega  ·  Looker Studio  ·  La Feria del Automóvil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102E"/>
                </a:solidFill>
                <a:latin typeface="Calibri"/>
              </a:rPr>
              <a:t>QUÉ MUESTRAN LOS DATOS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Miran mucho desde el celular, escriben poco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3520440" cy="3694176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9099"/>
                </a:solidFill>
                <a:latin typeface="Calibri"/>
              </a:rPr>
              <a:t>DISPOSITIVO</a:t>
            </a:r>
          </a:p>
        </p:txBody>
      </p:sp>
      <p:pic>
        <p:nvPicPr>
          <p:cNvPr id="7" name="Picture 6" descr="c_dispositiv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2487168"/>
            <a:ext cx="3017520" cy="258644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62856" y="1874519"/>
            <a:ext cx="3520440" cy="3694176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82896" y="21031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9099"/>
                </a:solidFill>
                <a:latin typeface="Calibri"/>
              </a:rPr>
              <a:t>PÁGINAS MÁS VISTAS</a:t>
            </a:r>
          </a:p>
        </p:txBody>
      </p:sp>
      <p:pic>
        <p:nvPicPr>
          <p:cNvPr id="10" name="Picture 9" descr="c_pagin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2651760"/>
            <a:ext cx="3017520" cy="23317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348472" y="1874519"/>
            <a:ext cx="3063240" cy="3694176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68512" y="21031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9099"/>
                </a:solidFill>
                <a:latin typeface="Calibri"/>
              </a:rPr>
              <a:t>EVENTOS</a:t>
            </a:r>
          </a:p>
        </p:txBody>
      </p:sp>
      <p:pic>
        <p:nvPicPr>
          <p:cNvPr id="13" name="Picture 12" descr="c_eve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2487168"/>
            <a:ext cx="2651760" cy="238658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77240" y="5715000"/>
            <a:ext cx="10634472" cy="530352"/>
          </a:xfrm>
          <a:prstGeom prst="roundRect">
            <a:avLst>
              <a:gd name="adj" fmla="val 3500"/>
            </a:avLst>
          </a:prstGeom>
          <a:solidFill>
            <a:srgbClr val="1E242D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870448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Lectura: 72 % de usuarios comprometidos y 5,3 páginas por visita, pero form_submit es apenas el 3,2 % de los eventos: la fuga está en el formulario.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7255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A9099"/>
                </a:solidFill>
                <a:latin typeface="Calibri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069"/>
                </a:solidFill>
                <a:latin typeface="Calibri"/>
              </a:rPr>
              <a:t>1era Entrega  ·  Looker Studio  ·  La Feria del Automóvil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102E"/>
                </a:solidFill>
                <a:latin typeface="Calibri"/>
              </a:rPr>
              <a:t>PÁGINA 4 DEL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Conclusiones y próximos pasos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5230368" cy="434340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4884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8102E"/>
                </a:solidFill>
                <a:latin typeface="Calibri"/>
              </a:rPr>
              <a:t>QUÉ NOS DICEN LOS DATOS</a:t>
            </a:r>
          </a:p>
        </p:txBody>
      </p:sp>
      <p:sp>
        <p:nvSpPr>
          <p:cNvPr id="7" name="Oval 6"/>
          <p:cNvSpPr/>
          <p:nvPr/>
        </p:nvSpPr>
        <p:spPr>
          <a:xfrm>
            <a:off x="1143000" y="2651760"/>
            <a:ext cx="292608" cy="292608"/>
          </a:xfrm>
          <a:prstGeom prst="ellipse">
            <a:avLst/>
          </a:prstGeom>
          <a:solidFill>
            <a:srgbClr val="1E2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C8102E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2633472"/>
            <a:ext cx="4069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Dependencia del canal orgánico: 79 % de las sesiones y sólo 3 % de redes y referidos.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3346704"/>
            <a:ext cx="292608" cy="292608"/>
          </a:xfrm>
          <a:prstGeom prst="ellipse">
            <a:avLst/>
          </a:prstGeom>
          <a:solidFill>
            <a:srgbClr val="1E2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C8102E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3328416"/>
            <a:ext cx="4069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Audiencia mobile-first: 69,4 % navega desde el celular.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4041648"/>
            <a:ext cx="292608" cy="292608"/>
          </a:xfrm>
          <a:prstGeom prst="ellipse">
            <a:avLst/>
          </a:prstGeom>
          <a:solidFill>
            <a:srgbClr val="1E2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C8102E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4023360"/>
            <a:ext cx="4069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El interés se concentra en usados: home y catálogo explican el 67 % de las vistas.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4736592"/>
            <a:ext cx="292608" cy="292608"/>
          </a:xfrm>
          <a:prstGeom prst="ellipse">
            <a:avLst/>
          </a:prstGeom>
          <a:solidFill>
            <a:srgbClr val="1E2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C8102E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4718304"/>
            <a:ext cx="4069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Buen enganche, baja conversión: 72 % engaged pero 3,2 % de form_submit.</a:t>
            </a:r>
          </a:p>
        </p:txBody>
      </p:sp>
      <p:sp>
        <p:nvSpPr>
          <p:cNvPr id="15" name="Oval 14"/>
          <p:cNvSpPr/>
          <p:nvPr/>
        </p:nvSpPr>
        <p:spPr>
          <a:xfrm>
            <a:off x="1143000" y="5431536"/>
            <a:ext cx="292608" cy="292608"/>
          </a:xfrm>
          <a:prstGeom prst="ellipse">
            <a:avLst/>
          </a:prstGeom>
          <a:solidFill>
            <a:srgbClr val="1E2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C8102E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5413248"/>
            <a:ext cx="4069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Alcance local: Argentina concentra prácticamente todos los usuarios activos.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874519"/>
            <a:ext cx="5230368" cy="434340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214884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8102E"/>
                </a:solidFill>
                <a:latin typeface="Calibri"/>
              </a:rPr>
              <a:t>PRÓXIMOS PASOS</a:t>
            </a:r>
          </a:p>
        </p:txBody>
      </p:sp>
      <p:sp>
        <p:nvSpPr>
          <p:cNvPr id="19" name="Oval 18"/>
          <p:cNvSpPr/>
          <p:nvPr/>
        </p:nvSpPr>
        <p:spPr>
          <a:xfrm>
            <a:off x="6547104" y="2651760"/>
            <a:ext cx="292608" cy="29260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2633472"/>
            <a:ext cx="4069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Diversificar la adquisición con Google Ads y Meta Ads, midiendo CTR y CPL por campaña con UTM.</a:t>
            </a:r>
          </a:p>
        </p:txBody>
      </p:sp>
      <p:sp>
        <p:nvSpPr>
          <p:cNvPr id="21" name="Oval 20"/>
          <p:cNvSpPr/>
          <p:nvPr/>
        </p:nvSpPr>
        <p:spPr>
          <a:xfrm>
            <a:off x="6547104" y="3346704"/>
            <a:ext cx="292608" cy="29260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6872" y="3328416"/>
            <a:ext cx="4069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Optimizar el formulario en mobile (menos campos, CTA visible) para mejorar form_start → form_submit.</a:t>
            </a:r>
          </a:p>
        </p:txBody>
      </p:sp>
      <p:sp>
        <p:nvSpPr>
          <p:cNvPr id="23" name="Oval 22"/>
          <p:cNvSpPr/>
          <p:nvPr/>
        </p:nvSpPr>
        <p:spPr>
          <a:xfrm>
            <a:off x="6547104" y="4041648"/>
            <a:ext cx="292608" cy="29260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872" y="4023360"/>
            <a:ext cx="4069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Rediseñar la sección Financiación y enlazarla desde las fichas de vehículos usados.</a:t>
            </a:r>
          </a:p>
        </p:txBody>
      </p:sp>
      <p:sp>
        <p:nvSpPr>
          <p:cNvPr id="25" name="Oval 24"/>
          <p:cNvSpPr/>
          <p:nvPr/>
        </p:nvSpPr>
        <p:spPr>
          <a:xfrm>
            <a:off x="6547104" y="4736592"/>
            <a:ext cx="292608" cy="29260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6872" y="4718304"/>
            <a:ext cx="4069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Activar la fuente de Google Ads en el tablero para medir ROAS y cerrar el embudo.</a:t>
            </a:r>
          </a:p>
        </p:txBody>
      </p:sp>
      <p:sp>
        <p:nvSpPr>
          <p:cNvPr id="27" name="Oval 26"/>
          <p:cNvSpPr/>
          <p:nvPr/>
        </p:nvSpPr>
        <p:spPr>
          <a:xfrm>
            <a:off x="6547104" y="5431536"/>
            <a:ext cx="292608" cy="29260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6872" y="5413248"/>
            <a:ext cx="4069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Monitoreo semanal de CTR, CPL, tasa de conversión y ROAS sobre este mismo reporte.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57255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A9099"/>
                </a:solidFill>
                <a:latin typeface="Calibri"/>
              </a:rPr>
              <a:t>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069"/>
                </a:solidFill>
                <a:latin typeface="Calibri"/>
              </a:rPr>
              <a:t>1era Entrega  ·  Looker Studio  ·  La Feria del Automóvil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102E"/>
                </a:solidFill>
                <a:latin typeface="Calibri"/>
              </a:rPr>
              <a:t>PREGUNTAS DE LA CONSIGNA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¿El reporte fue ajustado desde el Desafío N° 3?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2880360" cy="1234440"/>
          </a:xfrm>
          <a:prstGeom prst="roundRect">
            <a:avLst>
              <a:gd name="adj" fmla="val 35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SÍ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31336" y="1874519"/>
            <a:ext cx="7580375" cy="123444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97096" y="210312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8102E"/>
                </a:solidFill>
                <a:latin typeface="Calibri"/>
              </a:rPr>
              <a:t>¿POR QUÉ?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7096" y="2432304"/>
            <a:ext cx="6858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B9BFC7"/>
                </a:solidFill>
                <a:latin typeface="Calibri"/>
              </a:rPr>
              <a:t>Porque el reporte no mostraba datos: la fuente GA4 había perdido sus credenciales y el período por defecto (últimos 7 días) caía fuera del rango con datos. Además seguía siendo la plantilla estándar de GA4, sin identidad, sin filtros propios y sin una página de cierre.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0156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8102E"/>
                </a:solidFill>
                <a:latin typeface="Calibri"/>
              </a:rPr>
              <a:t>¿QUÉ CAMBIOS PRESENTA EL REPORTE?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94760"/>
            <a:ext cx="10634472" cy="45720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922776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E8FE0"/>
                </a:solidFill>
                <a:latin typeface="Calibri"/>
              </a:rPr>
              <a:t>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3913632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Fuente de datos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922776"/>
            <a:ext cx="6720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BFC7"/>
                </a:solidFill>
                <a:latin typeface="Calibri"/>
              </a:rPr>
              <a:t>Se reconectaron las credenciales de la propiedad GA4: los 16 gráficos volvieron a devolver datos.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306824"/>
            <a:ext cx="10634472" cy="457200"/>
          </a:xfrm>
          <a:prstGeom prst="roundRect">
            <a:avLst>
              <a:gd name="adj" fmla="val 3500"/>
            </a:avLst>
          </a:prstGeom>
          <a:solidFill>
            <a:srgbClr val="1E2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43484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E8FE0"/>
                </a:solidFill>
                <a:latin typeface="Calibri"/>
              </a:rPr>
              <a:t>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4425696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Período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434840"/>
            <a:ext cx="6720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BFC7"/>
                </a:solidFill>
                <a:latin typeface="Calibri"/>
              </a:rPr>
              <a:t>El período pasó de «últimos 7 días» a un rango fijo 1 sep – 31 dic 2025 a nivel de informe.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818888"/>
            <a:ext cx="10634472" cy="45720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946904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E8FE0"/>
                </a:solidFill>
                <a:latin typeface="Calibri"/>
              </a:rP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493776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Identidad y navegación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946904"/>
            <a:ext cx="6720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BFC7"/>
                </a:solidFill>
                <a:latin typeface="Calibri"/>
              </a:rPr>
              <a:t>Encabezado, nombres de las 4 páginas y menú de navegación en español, con lógica de embudo.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330952"/>
            <a:ext cx="10634472" cy="457200"/>
          </a:xfrm>
          <a:prstGeom prst="roundRect">
            <a:avLst>
              <a:gd name="adj" fmla="val 3500"/>
            </a:avLst>
          </a:prstGeom>
          <a:solidFill>
            <a:srgbClr val="1E2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458968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E8FE0"/>
                </a:solidFill>
                <a:latin typeface="Calibri"/>
              </a:rPr>
              <a:t>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5449824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Filtros y cierre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5458968"/>
            <a:ext cx="6720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BFC7"/>
                </a:solidFill>
                <a:latin typeface="Calibri"/>
              </a:rPr>
              <a:t>Se sumó el control desplegable de dispositivo y una cuarta página de Conclusiones.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843016"/>
            <a:ext cx="10634472" cy="45720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97103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E8FE0"/>
                </a:solidFill>
                <a:latin typeface="Calibri"/>
              </a:rPr>
              <a:t>Brief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596188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Las tres pestañas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5971032"/>
            <a:ext cx="6720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BFC7"/>
                </a:solidFill>
                <a:latin typeface="Calibri"/>
              </a:rPr>
              <a:t>Se completaron las 3 pestañas: 15 preguntas, 6 tipos de gráfico y los filtros externos e internos.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57255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A9099"/>
                </a:solidFill>
                <a:latin typeface="Calibri"/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069"/>
                </a:solidFill>
                <a:latin typeface="Calibri"/>
              </a:rPr>
              <a:t>1era Entrega  ·  Looker Studio  ·  La Feria del Automóvil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3108960"/>
            <a:ext cx="5852160" cy="5852160"/>
          </a:xfrm>
          <a:prstGeom prst="ellipse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102E"/>
                </a:solidFill>
                <a:latin typeface="Calibri"/>
              </a:rPr>
              <a:t>ACCESOS A LA ENTREGA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Todo el material, en dos links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43200"/>
            <a:ext cx="5230368" cy="214884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03580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8102E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401568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Dashboard · Looker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40480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2E8FE0"/>
                </a:solidFill>
                <a:latin typeface="Calibri"/>
                <a:hlinkClick r:id="rId2"/>
              </a:rPr>
              <a:t>lookerstudio.google.com/reporting/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2E8FE0"/>
                </a:solidFill>
                <a:latin typeface="Calibri"/>
                <a:hlinkClick r:id="rId2"/>
              </a:rPr>
              <a:t>c2ac4a0b-60ae-4241-af43-5bfa3fcd6cdc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2743200"/>
            <a:ext cx="5230368" cy="2148840"/>
          </a:xfrm>
          <a:prstGeom prst="roundRect">
            <a:avLst>
              <a:gd name="adj" fmla="val 3500"/>
            </a:avLst>
          </a:prstGeom>
          <a:solidFill>
            <a:srgbClr val="171C23"/>
          </a:solidFill>
          <a:ln w="12700">
            <a:solidFill>
              <a:srgbClr val="2A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303580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8102E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3401568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Brief del proyecto · Excel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3840480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B9BFC7"/>
                </a:solidFill>
                <a:latin typeface="Calibri"/>
              </a:rPr>
              <a:t>Brief - 1era Entrega Massironi.xlsx
Pestañas: Dashboard · Gráficos aplicados · Filtros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492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8A9099"/>
                </a:solidFill>
                <a:latin typeface="Calibri"/>
              </a:rPr>
              <a:t>Ambos archivos se comparten con permiso de Comentador para que los tutores puedan dejar observaciones.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89788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Massironi  ·  Agosto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