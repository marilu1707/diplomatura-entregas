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okerstudio.google.com/reporting/c2ac4a0b-60ae-4241-af43-5bfa3fcd6cdc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1371600"/>
            <a:ext cx="6035040" cy="6035040"/>
          </a:xfrm>
          <a:prstGeom prst="ellipse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9052560" y="2834640"/>
            <a:ext cx="3108960" cy="3108960"/>
          </a:xfrm>
          <a:prstGeom prst="donut">
            <a:avLst>
              <a:gd name="adj" fmla="val 6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PRIMERA ENTREGA  · 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Dashboard en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>
                <a:solidFill>
                  <a:srgbClr val="C8102E"/>
                </a:solidFill>
                <a:latin typeface="Calibri"/>
              </a:rPr>
              <a:t>Google Looker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9BFC7"/>
                </a:solidFill>
                <a:latin typeface="Calibri"/>
              </a:rPr>
              <a:t>La Feria del Automóvil  ·  Performance Comercial 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24528"/>
            <a:ext cx="1371600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Massironi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099"/>
                </a:solidFill>
                <a:latin typeface="Calibri"/>
              </a:rPr>
              <a:t>Analítica de Negocios y Ecosistema Digital  ·  Agosto 2026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A9099"/>
                </a:solidFill>
                <a:latin typeface="Calibri"/>
              </a:rPr>
              <a:t>Fuente: Google Analytics 4 – feriadelautomovil.com.ar  ·  Período 1 sep – 31 dic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1,8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usuarios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72 %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1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engaged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69,4 %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páginas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Qué problema resuelve este tablero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La Feria del Automóvil miraba GA4, Google Ads y el sitio por separado y de forma manual. Sin una lectura unificada, las decisiones de inversión y de contenido se tomaban por intuición, frente a un competidor (AutoHaus Adrogué) con más inversión online y CRM integrado.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659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El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Centralizar GA4 en un cuadro de mando táctico organizado según el embudo TOFU → MOFU → BOFU, que muestre en una sola vista de dónde viene el tráfico, cómo se comporta y en qué punto se pierde la conversión.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Los usuarios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Dirección: KPIs generales, revisión mensual para decidir presupuesto.
Marketing Digital: uso semanal, canales, campañas y contenidos.
Equipo comercial: qué modelos y secciones despiertan más interés antes de contactar al lead.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FUENTES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De dónde salen los datos del reporte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Analytics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feriadelautomovil.com.ar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Conector nativo de Looker Studio. Implementada vía Google Tag Manager, con eventos personalizados y variables UTM (source / medium / campaign).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471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DC37B"/>
                </a:solidFill>
                <a:latin typeface="Calibri"/>
              </a:rPr>
              <a:t>ACTIVA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cuenta de la concesionaria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Ya vinculada al informe. Se activará en la próxima etapa para medir costo, CTR, CPL y ROAS por campaña.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E8FE0"/>
                </a:solidFill>
                <a:latin typeface="Calibri"/>
              </a:rPr>
              <a:t>VINCULADA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leads y ventas del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Prevista. Cerrará el embudo hasta la venta concretada en el showroom y permitirá calcular la tasa de conversión real lead → venta.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A9099"/>
                </a:solidFill>
                <a:latin typeface="Calibri"/>
              </a:rPr>
              <a:t>PREVISTA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56048"/>
            <a:ext cx="10634472" cy="960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93792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B9BFC7"/>
                </a:solidFill>
                <a:latin typeface="Calibri"/>
              </a:rPr>
              <a:t>Período por defecto del reporte: 1 de septiembre – 31 de diciembre de 2025. Es el rango con datos consolidados de la propiedad GA4; el filtro de período permite al lector acotarlo o compararlo.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Las preguntas que el tablero responde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2089403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2082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¿Cuántos usuarios activos y nuevos llegaron y cómo evolucionaron frente al período anterior?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61487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976371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07791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nivel de compromiso tiene la audiencia y cuánto contenido consume por visita?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48456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1" y="3863339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9475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¿Desde qué dispositivo nos visitan? ¿El sitio es realmente mobile-first?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35424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1" y="4750308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8172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¿De qué países y regiones proviene el tráfico? ¿El alcance sigue siendo local?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22392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1" y="5637276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56869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¿Cómo se distribuye el tráfico día a día? ¿Hay picos asociados a acciones comerciales?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874519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2089403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02082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fuente y medio aportan más sesiones? ¿Cuánto pesa el orgánico frente al resto?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761487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5392" y="2976371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907791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peso real tienen Instagram y Facebook como fuente de tráfico?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648456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3863339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79475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proporción de usuarios inicia y efectivamente envía el formulario de contacto?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535424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4750308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68172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páginas y qué modelos concentran el interés comercial?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5422392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5392" y="5637276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556869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acciones priorizar el próximo trimestre para diversificar canales y convertir mejor?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Cuatro páginas que cuentan una historia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Los 6 KPIs del período, el reparto por dispositivo, el ranking de países y la evolución diaria del tráfico.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TOFU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Tráfico y adquisición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De dónde llegan las sesiones (fuente / medio) y qué eventos dispara el usuario dentro del sitio.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TOFU · MOFU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Contenido y búsquedas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Qué páginas y qué modelos concentran las vistas, y qué busca la gente dentro del sitio.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MOFU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Cinco hallazgos y cinco acciones concretas derivadas de los datos del período.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BOFU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760720"/>
            <a:ext cx="10634472" cy="5029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907024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Menú de navegación lateral en el visor · encabezado, paleta y tipografía idénticos en las 4 páginas: se leen como una sola unidad visual.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GRÁFICOS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Seis tipos de visualización, una por intención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Tarjetas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Usuarios, % nuevos, engagement, páginas/usuario,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Seis KPIs en una fila con comparación vs. período anterior: la primera lectura del tablero.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Gráfico circular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por categoría de dispositivo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Sólo tres categorías y lo que importa es la proporción: 69,4 % mobile vs 30,2 % desktop.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Barras horizontales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activos por país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Ordenadas de mayor a menor: dejan clarísimo el dominio de Argentina sobre el resto.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Serie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activos por fecha y por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Muestra estacionalidad y picos, y permite cruzar caídas con acciones comerciales.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Tabla con barras y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Fuentes / medios, eventos y rutas de página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Ubica cada fila en términos relativos sin necesidad de un segundo gráfico.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Líneas múltiples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Comparación de series de canales y 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Compara la evolución de varias series sin multiplicar los paneles.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FILTROS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Cómo se segmenta la información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FILTROS EXTERNOS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Controles visibles para quien lee el reporte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Filtro por período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Nivel de informe · las 4 páginas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Rango fijo 1 sep – 31 dic 2025 por defecto, modificable por el lector.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Lista desplegable · Dispositivo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3367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Nivel de informe · las 4 páginas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8970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Aislar mobile vs desktop es lo que permite demostrar la fricción del formulario móvil.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9262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Interacción entre gráficos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266944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Páginas 2 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2297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Al hacer clic en una fila de la tabla se filtra el resto de la página: el tablero se explora solo.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488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FILTROS INTERNOS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Condicionales aplicados a un gráfico concreto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88036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sesiones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154679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Traffic Sources · pág.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3924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La cola larga de referrals con 1-2 sesiones es ruido.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63931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nº de eventos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1363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Events · pág.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1513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Concentra la atención en los eventos que explican el comportamiento 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39826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vistas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672583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Pages · pág.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4910327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Deja ver de un vistazo qué secciones y modelos concentran el interés.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15721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Comparación vs. período anterior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431536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Tarjetas de resultados · pág.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566927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Ubica cada cifra en términos relativos (%), no como un absoluto.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IDENTIDAD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Look &amp; feel: un tablero de auto, no una planilla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#0E1116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Negro carbón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Fondo de las 4 páginas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#C8102E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Rojo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Acento y variaciones negativas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#FFFFFF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Blanco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Títulos y cifras clave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5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2E8FE0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5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#2E8FE0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Azul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5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Serie principal de los gráficos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8A9099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#8A9099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Gris 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Ejes, etiquetas y apoyo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3DC37B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#3DC37B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Verde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Variaciones positivas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97680"/>
            <a:ext cx="5230368" cy="178308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5537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TIPOGRAFÍA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919472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Roboto, la fuente nativa de Looker Studio. Bold para títulos y cifras, Regular para el cuerpo. Coherente con el Segoe UI Bold del tablero de Power BI del mismo proyecto.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297680"/>
            <a:ext cx="5230368" cy="178308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5537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CRITERIO DE DISEÑO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919472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Data storytelling (Knaflic, 2017): un título por bloque, ruido visual al mínimo, contraste alto entre fondo y dato, y recorrido de lectura de arriba hacia abajo siguiendo el embudo.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QUÉ MUESTRAN LOS DATOS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Una marca fuerte, un solo canal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79,0 %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112263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del tráfico llega por
búsqueda orgánica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79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17,9 %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392424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entra de forma
directa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&lt; 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672583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aportan redes
sociales y referidos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874519"/>
            <a:ext cx="6364224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103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SESIONES POR FUENTE / MEDIO  ·  1 sep – 31 dic 2025</a:t>
            </a:r>
          </a:p>
        </p:txBody>
      </p:sp>
      <p:pic>
        <p:nvPicPr>
          <p:cNvPr id="16" name="Picture 15" descr="c_ca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87168"/>
            <a:ext cx="5760720" cy="29626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77240" y="5715000"/>
            <a:ext cx="10634472" cy="530352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87044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Lectura: el SEO local funciona, pero la adquisición depende casi por completo de un único canal. Diversificar es la prioridad del próximo trimestre.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QUÉ MUESTRAN LOS DATOS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Miran mucho desde el celular, escriben poco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5204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DISPOSITIVO</a:t>
            </a:r>
          </a:p>
        </p:txBody>
      </p:sp>
      <p:pic>
        <p:nvPicPr>
          <p:cNvPr id="7" name="Picture 6" descr="c_disposi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487168"/>
            <a:ext cx="3017520" cy="25864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62856" y="1874519"/>
            <a:ext cx="35204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2103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PÁGINAS MÁS VISTAS</a:t>
            </a:r>
          </a:p>
        </p:txBody>
      </p:sp>
      <p:pic>
        <p:nvPicPr>
          <p:cNvPr id="10" name="Picture 9" descr="c_pagi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651760"/>
            <a:ext cx="3017520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48472" y="1874519"/>
            <a:ext cx="30632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EVENTOS</a:t>
            </a:r>
          </a:p>
        </p:txBody>
      </p:sp>
      <p:pic>
        <p:nvPicPr>
          <p:cNvPr id="13" name="Picture 12" descr="c_ev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487168"/>
            <a:ext cx="2651760" cy="23865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715000"/>
            <a:ext cx="10634472" cy="530352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7044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Lectura: 72 % de usuarios comprometidos y 5,3 páginas por visita, pero form_submit es apenas el 3,2 % de los eventos: la fuga está en el formulario.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PÁGINA 4 DEL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43434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QUÉ NOS DICEN LOS DATOS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51760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33472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Dependencia del canal orgánico: 79 % de las sesiones y sólo 3 % de redes y referidos.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346704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328416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Audiencia mobile-first: 69,4 % navega desde el celular.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041648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02336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El interés se concentra en usados: home y catálogo explican el 67 % de las vistas.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4736592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718304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Buen enganche, baja conversión: 72 % engaged pero 3,2 % de form_submit.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5431536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413248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Alcance local: Argentina concentra prácticamente todos los usuarios activos.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74519"/>
            <a:ext cx="5230368" cy="43434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PRÓXIMOS PASOS</a:t>
            </a:r>
          </a:p>
        </p:txBody>
      </p:sp>
      <p:sp>
        <p:nvSpPr>
          <p:cNvPr id="19" name="Oval 18"/>
          <p:cNvSpPr/>
          <p:nvPr/>
        </p:nvSpPr>
        <p:spPr>
          <a:xfrm>
            <a:off x="6547104" y="2651760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633472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Diversificar la adquisición con Google Ads y Meta Ads, midiendo CTR y CPL por campaña con UTM.</a:t>
            </a:r>
          </a:p>
        </p:txBody>
      </p:sp>
      <p:sp>
        <p:nvSpPr>
          <p:cNvPr id="21" name="Oval 20"/>
          <p:cNvSpPr/>
          <p:nvPr/>
        </p:nvSpPr>
        <p:spPr>
          <a:xfrm>
            <a:off x="6547104" y="3346704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328416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Optimizar el formulario en mobile (menos campos, CTA visible) para mejorar form_start → form_submit.</a:t>
            </a:r>
          </a:p>
        </p:txBody>
      </p:sp>
      <p:sp>
        <p:nvSpPr>
          <p:cNvPr id="23" name="Oval 22"/>
          <p:cNvSpPr/>
          <p:nvPr/>
        </p:nvSpPr>
        <p:spPr>
          <a:xfrm>
            <a:off x="6547104" y="4041648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02336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Rediseñar la sección Financiación y enlazarla desde las fichas de vehículos usados.</a:t>
            </a:r>
          </a:p>
        </p:txBody>
      </p:sp>
      <p:sp>
        <p:nvSpPr>
          <p:cNvPr id="25" name="Oval 24"/>
          <p:cNvSpPr/>
          <p:nvPr/>
        </p:nvSpPr>
        <p:spPr>
          <a:xfrm>
            <a:off x="6547104" y="4736592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718304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Activar la fuente de Google Ads en el tablero para medir ROAS y cerrar el embudo.</a:t>
            </a:r>
          </a:p>
        </p:txBody>
      </p:sp>
      <p:sp>
        <p:nvSpPr>
          <p:cNvPr id="27" name="Oval 26"/>
          <p:cNvSpPr/>
          <p:nvPr/>
        </p:nvSpPr>
        <p:spPr>
          <a:xfrm>
            <a:off x="6547104" y="543153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413248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Monitoreo semanal de CTR, CPL, tasa de conversión y ROAS sobre este mismo reporte.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PREGUNTAS DE LA CONSIGNA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¿El reporte fue ajustado desde el Desafío N° 3?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880360" cy="1234440"/>
          </a:xfrm>
          <a:prstGeom prst="roundRect">
            <a:avLst>
              <a:gd name="adj" fmla="val 35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31336" y="1874519"/>
            <a:ext cx="7580375" cy="12344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7096" y="21031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¿POR QUÉ?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7096" y="2432304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Porque el reporte no mostraba datos: la fuente GA4 había perdido sus credenciales y el período por defecto (últimos 7 días) caía fuera del rango con datos. Además seguía siendo la plantilla estándar de GA4, sin identidad, sin filtros propios y sin una página de cierre.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¿QUÉ CAMBIOS PRESENTA EL REPORTE?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913632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Fuente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922776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reconectaron las credenciales de la propiedad GA4: los 16 gráficos volvieron a devolver 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06824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42569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Período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34840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El período pasó de «últimos 7 días» a un rango fijo 1 sep – 31 dic 2025 a nivel de informe.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18888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4690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9377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Identidad y navegación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946904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Encabezado, nombres de las 4 páginas y menú de navegación en español, con lógica de embudo.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330952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589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44982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Filtros y cierre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58968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sumó el control desplegable de dispositivo y una cuarta página de Conclusiones.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843016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7103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Las tres pestañas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971032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completaron las 3 pestañas: 15 preguntas, 6 tipos de gráfico y los filtros externos e internos.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ACCESOS A LA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Todo el material, en dos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5230368" cy="21488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35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15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Dashboard · Looker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2E8FE0"/>
                </a:solidFill>
                <a:latin typeface="Calibri"/>
                <a:hlinkClick r:id="rId2"/>
              </a:rPr>
              <a:t>lookerstudio.google.com/reporting/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2E8FE0"/>
                </a:solidFill>
                <a:latin typeface="Calibri"/>
                <a:hlinkClick r:id="rId2"/>
              </a:rPr>
              <a:t>c2ac4a0b-60ae-4241-af43-5bfa3fcd6cdc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743200"/>
            <a:ext cx="5230368" cy="21488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3035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34015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Brief del proyecto ·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84048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Brief - 1era Entrega Massironi.xlsx
Pestañas: Dashboard · Gráficos aplicados ·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A9099"/>
                </a:solidFill>
                <a:latin typeface="Calibri"/>
              </a:rPr>
              <a:t>Ambos archivos se comparten con permiso de Comentador para que los tutores puedan dejar observaciones.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Massironi  ·  Agosto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Mejoras Pendientes: Option 2 - Completar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588752" cy="4389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3 mejoras estratégicas para cumplir 100% con la rúbrica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601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9BFC7"/>
                </a:solidFill>
              </a:rPr>
              <a:t>Se han identificado 3 áreas clave para mejorar la entrega:
1️⃣  CAMPOS CALCULADOS REGEXP → Análisis avanzado de URLs
2️⃣  PÁGINA 6 MEJORADA → Storytelling visual e impacto
3️⃣  NAVEGACIÓN CON ÍCONOS → Experiencia de usuario
Instrucciones detalladas están en la hoja 'Implementación' del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C37B"/>
                </a:solidFill>
              </a:rPr>
              <a:t>→ VER: Brief  1era Entrega Massironi.xlsx › Hoja 'Implementación'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1. Campos Calculados REGEXP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588752" cy="4389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2 campos avanzados para extracción y clasificación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601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9BFC7"/>
                </a:solidFill>
              </a:rPr>
              <a:t>📌 REGEXP_EXTRACT (URL_Path)
   • Fórmula: REGEXP_EXTRACT(Page_Path_And_Query_String, "^([^?]*)")
   • Extrae solo la ruta sin parámetros
   • Uso: Agrupar páginas visitadas por sección
📌 REGEXP_MATCH (Content_Type)
   • Clasifica páginas: Catálogo, Conversión, Contenido, Otro
   • Usa CASE/WHEN con patrones REGEXP
   • Uso: Análisis por tipo de página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C37B"/>
                </a:solidFill>
              </a:rPr>
              <a:t>→ REQUIERE: Convertir fuente GA4 a REUTILIZABLE (hacer clic DUPLICAR en gestión de fuentes)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2. Página 6: Storytelling Visual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588752" cy="4389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Transformar conclusiones con KPIs, insights y call-to-action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601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9BFC7"/>
                </a:solidFill>
              </a:rPr>
              <a:t>🎯 TARJETAS KPI (3):
   Sesiones: 2.517 | Conversión: 18,5% | Engagement: 80,5%
💡 INSIGHTS TEXTUALES (3 cajas):
   • Optimización MOFU→BOFU | • Mobile-first es mandatorio | • SEO strategy pagando
📍 CALL-TO-ACTION:
   Cuadro rojo destacado con próximos pasos recomendados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C37B"/>
                </a:solidFill>
              </a:rPr>
              <a:t>→ COLORES: KPI Cards en BLUE/RED/GREEN | Fondo CTA en RED (#C8102E)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3. Navegación con Íconos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588752" cy="4389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Barra de navegación interactiva en la parte superior de cada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601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BFC7"/>
                </a:solidFill>
              </a:rPr>
              <a:t>ESTRUCTURA:
┌────────────────────────────────────────────────────────────┐
│ 📋 Inicio │ 📊 Datos │ 🎯 Objetivos │ 🔍 Análisis │ 💡 Insights │ ✅ Conclusiones │
└────────────────────────────────────────────────────────────┘
ESTILOS:
  • Página activa: BLUE (#2E8FE0)
  • Páginas inactivas: GREY (#8A9099)
  • Emoji 20pt, Texto blanco 10pt
  • Ubicación: Tope de cada página, 0,5 pulgadas altura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C37B"/>
                </a:solidFill>
              </a:rPr>
              <a:t>→ OPCIÓN: Usar controles Dropdown en lugar de imágenes para navegación verdadera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Próximos Pasos y Referencias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588752" cy="4389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CRONOLOGÍA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9BFC7"/>
                </a:solidFill>
              </a:rPr>
              <a:t>1️⃣  PRIMEIRO: Campos REGEXP (prerequisito para nuevos gráficos)
2️⃣  SEGUNDO: Página 6 mejorada (storytelling visual)
3️⃣  TERCERO: Navegación con íconos (experiencia final)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8FE0"/>
                </a:solidFill>
              </a:rPr>
              <a:t>DOCUMENTACIÓN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5196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9BFC7"/>
                </a:solidFill>
              </a:rPr>
              <a:t>📄 Brief  1era Entrega Massironi.xlsx
   └─ Hoja 'Implementación': Instrucciones detalladas con fórmulas y pasos
   └─ Hoja 'Fórmulas y Funciones': Ejemplos de uso avanzado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C37B"/>
                </a:solidFill>
              </a:rPr>
              <a:t>✓ Dashboard activo en Google Looker Studio (URL en Slide 17)
✓ Presentación completada (17 diapositivas base + 5 implementación)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